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405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106984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제조·물류 AI Agent Platform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94944" y="1618488"/>
            <a:ext cx="6080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주권 기반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분산 오케스트레이션 및 공급망 자동화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13232" y="3566160"/>
            <a:ext cx="960120" cy="50292"/>
          </a:xfrm>
          <a:prstGeom prst="rect">
            <a:avLst/>
          </a:prstGeom>
          <a:solidFill>
            <a:srgbClr val="1F73D8"/>
          </a:solidFill>
          <a:ln w="12700">
            <a:solidFill>
              <a:srgbClr val="1F73D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38587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독립 스키마 · 현장 제어 · BL 자동화 · AI 인사이트 · 물류 최적화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6355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PPT 구성안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2940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제조·물류 AI Agent Platform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9582912" y="2377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9202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주권 독립 스키마 아키텍처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66928" y="9144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73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데이터 중앙 수집 대신 Agent Push 방식으로 각 사 데이터 주권을 유지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4526280" cy="49834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85232" y="1170432"/>
            <a:ext cx="2066544" cy="498348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1" name="Image 1" descr="/mnt/data/slide_imgs/1#Ubc88 #Uc2ac#Ub77c#Uc774#Ub4dc/1 #Ud398#Uc774#Uc9c0 #Ub3c5#Ub9bd my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24" y="2263744"/>
            <a:ext cx="1965960" cy="27968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35240" y="1078992"/>
            <a:ext cx="41148" cy="5321808"/>
          </a:xfrm>
          <a:prstGeom prst="rect">
            <a:avLst/>
          </a:prstGeom>
          <a:solidFill>
            <a:srgbClr val="1F73D8"/>
          </a:solidFill>
          <a:ln w="12700">
            <a:solidFill>
              <a:srgbClr val="1F73D8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36992" y="1280160"/>
            <a:ext cx="128016" cy="128016"/>
          </a:xfrm>
          <a:prstGeom prst="ellipse">
            <a:avLst/>
          </a:prstGeom>
          <a:solidFill>
            <a:srgbClr val="1F73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65592" y="12435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분산 오케스트레이션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8165592" y="15819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5개 독립 스키마 격리 및 멀티테넌시 구조 설계</a:t>
            </a:r>
            <a:endParaRPr lang="en-US" sz="1090" dirty="0"/>
          </a:p>
        </p:txBody>
      </p:sp>
      <p:sp>
        <p:nvSpPr>
          <p:cNvPr id="16" name="Shape 12"/>
          <p:cNvSpPr/>
          <p:nvPr/>
        </p:nvSpPr>
        <p:spPr>
          <a:xfrm>
            <a:off x="7936992" y="25420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250545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주권 보장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8165592" y="28437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수집이 아닌 각 사 Agent의 능동적 결과 보고(Push) 방식 채택</a:t>
            </a:r>
            <a:endParaRPr lang="en-US" sz="1090" dirty="0"/>
          </a:p>
        </p:txBody>
      </p:sp>
      <p:sp>
        <p:nvSpPr>
          <p:cNvPr id="19" name="Shape 15"/>
          <p:cNvSpPr/>
          <p:nvPr/>
        </p:nvSpPr>
        <p:spPr>
          <a:xfrm>
            <a:off x="7936992" y="3803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65592" y="3767328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인프라 최적화</a:t>
            </a:r>
            <a:endParaRPr lang="en-US" sz="1440" dirty="0"/>
          </a:p>
        </p:txBody>
      </p:sp>
      <p:sp>
        <p:nvSpPr>
          <p:cNvPr id="21" name="Text 17"/>
          <p:cNvSpPr/>
          <p:nvPr/>
        </p:nvSpPr>
        <p:spPr>
          <a:xfrm>
            <a:off x="8165592" y="4105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중앙 서버 부하 최소화 및 데이터 유출 방지를 고려한 보안 구조</a:t>
            </a:r>
            <a:endParaRPr lang="en-US" sz="1090" dirty="0"/>
          </a:p>
        </p:txBody>
      </p:sp>
      <p:sp>
        <p:nvSpPr>
          <p:cNvPr id="22" name="Text 18"/>
          <p:cNvSpPr/>
          <p:nvPr/>
        </p:nvSpPr>
        <p:spPr>
          <a:xfrm>
            <a:off x="566928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Schemas</a:t>
            </a:r>
            <a:endParaRPr lang="en-US" sz="720" dirty="0"/>
          </a:p>
        </p:txBody>
      </p:sp>
      <p:sp>
        <p:nvSpPr>
          <p:cNvPr id="23" name="Text 19"/>
          <p:cNvSpPr/>
          <p:nvPr/>
        </p:nvSpPr>
        <p:spPr>
          <a:xfrm>
            <a:off x="566928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멀티테넌시 격리</a:t>
            </a:r>
            <a:endParaRPr lang="en-US" sz="620" dirty="0"/>
          </a:p>
        </p:txBody>
      </p:sp>
      <p:sp>
        <p:nvSpPr>
          <p:cNvPr id="24" name="Text 20"/>
          <p:cNvSpPr/>
          <p:nvPr/>
        </p:nvSpPr>
        <p:spPr>
          <a:xfrm>
            <a:off x="2892552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Push Report</a:t>
            </a:r>
            <a:endParaRPr lang="en-US" sz="720" dirty="0"/>
          </a:p>
        </p:txBody>
      </p:sp>
      <p:sp>
        <p:nvSpPr>
          <p:cNvPr id="25" name="Text 21"/>
          <p:cNvSpPr/>
          <p:nvPr/>
        </p:nvSpPr>
        <p:spPr>
          <a:xfrm>
            <a:off x="2892552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현지 판단 결과만 보고</a:t>
            </a:r>
            <a:endParaRPr lang="en-US" sz="620" dirty="0"/>
          </a:p>
        </p:txBody>
      </p:sp>
      <p:sp>
        <p:nvSpPr>
          <p:cNvPr id="26" name="Text 22"/>
          <p:cNvSpPr/>
          <p:nvPr/>
        </p:nvSpPr>
        <p:spPr>
          <a:xfrm>
            <a:off x="5218176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Low Load</a:t>
            </a:r>
            <a:endParaRPr lang="en-US" sz="720" dirty="0"/>
          </a:p>
        </p:txBody>
      </p:sp>
      <p:sp>
        <p:nvSpPr>
          <p:cNvPr id="27" name="Text 23"/>
          <p:cNvSpPr/>
          <p:nvPr/>
        </p:nvSpPr>
        <p:spPr>
          <a:xfrm>
            <a:off x="5218176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중앙 부하 최소화</a:t>
            </a:r>
            <a:endParaRPr lang="en-US" sz="620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1207008"/>
            <a:ext cx="4457700" cy="495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2940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제조·물류 AI Agent Platform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9582912" y="2377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Domain Control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9202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 현장 도메인 제어 및 자동화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66928" y="9144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73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비정형 생산 데이터를 파싱하고 설비 가동률 기준으로 자동 배정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6876288" cy="2214066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9" name="Image 0" descr="/mnt/data/slide_imgs/2#Ubc88#Uc2ac#Ub77c#Uc774#Ub354/2#Uc0dd#Uc0b0#Ucc3d #Uc5d1#Uc140#Ub85c #Uc5c5#Ub85c#Ub4d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36" y="1220724"/>
            <a:ext cx="6433750" cy="21168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3539946"/>
            <a:ext cx="3355848" cy="258653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1" name="Image 1" descr="/mnt/data/slide_imgs/2#Ubc88#Uc2ac#Ub77c#Uc774#Ub354/2#Uaddc#Uce59#Uae30#Ubc18#Uc73c#Ub85c #Uae30#Uacc4 #Uc790#Ub3d9#Ubc30#Ubd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3617670"/>
            <a:ext cx="3255264" cy="21646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87368" y="3539946"/>
            <a:ext cx="3355848" cy="258653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3" name="Image 2" descr="/mnt/data/slide_imgs/2#Ubc88#Uc2ac#Ub77c#Uc774#Ub354/2#Uae30#Uacc4 #Uc791#Ub3d9 #Ubaa8#Uc2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60" y="3853695"/>
            <a:ext cx="3255264" cy="169264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635240" y="1078992"/>
            <a:ext cx="41148" cy="5321808"/>
          </a:xfrm>
          <a:prstGeom prst="rect">
            <a:avLst/>
          </a:prstGeom>
          <a:solidFill>
            <a:srgbClr val="1F73D8"/>
          </a:solidFill>
          <a:ln w="12700">
            <a:solidFill>
              <a:srgbClr val="1F73D8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936992" y="1280160"/>
            <a:ext cx="128016" cy="128016"/>
          </a:xfrm>
          <a:prstGeom prst="ellipse">
            <a:avLst/>
          </a:prstGeom>
          <a:solidFill>
            <a:srgbClr val="1F73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165592" y="12435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파싱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8165592" y="15819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비정형 엑셀 데이터의 정형 파싱 파이프라인 구축</a:t>
            </a:r>
            <a:endParaRPr lang="en-US" sz="1090" dirty="0"/>
          </a:p>
        </p:txBody>
      </p:sp>
      <p:sp>
        <p:nvSpPr>
          <p:cNvPr id="18" name="Shape 13"/>
          <p:cNvSpPr/>
          <p:nvPr/>
        </p:nvSpPr>
        <p:spPr>
          <a:xfrm>
            <a:off x="7936992" y="25420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165592" y="250545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Greedy 스케줄링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8165592" y="28437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설비(인쇄기) 가동률 극대화를 위한 자동 배정 알고리즘</a:t>
            </a:r>
            <a:endParaRPr lang="en-US" sz="1090" dirty="0"/>
          </a:p>
        </p:txBody>
      </p:sp>
      <p:sp>
        <p:nvSpPr>
          <p:cNvPr id="21" name="Shape 16"/>
          <p:cNvSpPr/>
          <p:nvPr/>
        </p:nvSpPr>
        <p:spPr>
          <a:xfrm>
            <a:off x="7936992" y="3803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165592" y="3767328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모니터링</a:t>
            </a:r>
            <a:endParaRPr lang="en-US" sz="1440" dirty="0"/>
          </a:p>
        </p:txBody>
      </p:sp>
      <p:sp>
        <p:nvSpPr>
          <p:cNvPr id="23" name="Text 18"/>
          <p:cNvSpPr/>
          <p:nvPr/>
        </p:nvSpPr>
        <p:spPr>
          <a:xfrm>
            <a:off x="8165592" y="4105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설비별 가동 상태 실시간 동기화로 운영 가시성 확보</a:t>
            </a:r>
            <a:endParaRPr lang="en-US" sz="1090" dirty="0"/>
          </a:p>
        </p:txBody>
      </p:sp>
      <p:sp>
        <p:nvSpPr>
          <p:cNvPr id="24" name="Text 19"/>
          <p:cNvSpPr/>
          <p:nvPr/>
        </p:nvSpPr>
        <p:spPr>
          <a:xfrm>
            <a:off x="566928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DB</a:t>
            </a:r>
            <a:endParaRPr lang="en-US" sz="720" dirty="0"/>
          </a:p>
        </p:txBody>
      </p:sp>
      <p:sp>
        <p:nvSpPr>
          <p:cNvPr id="25" name="Text 20"/>
          <p:cNvSpPr/>
          <p:nvPr/>
        </p:nvSpPr>
        <p:spPr>
          <a:xfrm>
            <a:off x="566928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비정형 입력 정규화</a:t>
            </a:r>
            <a:endParaRPr lang="en-US" sz="620" dirty="0"/>
          </a:p>
        </p:txBody>
      </p:sp>
      <p:sp>
        <p:nvSpPr>
          <p:cNvPr id="26" name="Text 21"/>
          <p:cNvSpPr/>
          <p:nvPr/>
        </p:nvSpPr>
        <p:spPr>
          <a:xfrm>
            <a:off x="2892552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Greedy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2892552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설비별 자동 배정</a:t>
            </a:r>
            <a:endParaRPr lang="en-US" sz="620" dirty="0"/>
          </a:p>
        </p:txBody>
      </p:sp>
      <p:sp>
        <p:nvSpPr>
          <p:cNvPr id="28" name="Text 23"/>
          <p:cNvSpPr/>
          <p:nvPr/>
        </p:nvSpPr>
        <p:spPr>
          <a:xfrm>
            <a:off x="5218176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Realtime</a:t>
            </a:r>
            <a:endParaRPr lang="en-US" sz="720" dirty="0"/>
          </a:p>
        </p:txBody>
      </p:sp>
      <p:sp>
        <p:nvSpPr>
          <p:cNvPr id="29" name="Text 24"/>
          <p:cNvSpPr/>
          <p:nvPr/>
        </p:nvSpPr>
        <p:spPr>
          <a:xfrm>
            <a:off x="5218176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동기화</a:t>
            </a:r>
            <a:endParaRPr lang="en-US" sz="6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2940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제조·물류 AI Agent Platform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9582912" y="2377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Automation Pipeline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9202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수입 문서 자동 파싱 및 발주 등록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66928" y="9144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73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선하증권 업로드 시 항목을 자동 추출해 발주 데이터로 바인딩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687628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9" name="Image 0" descr="/mnt/data/slide_imgs/2#Ubc88#Uc2ac#Ub77c#Uc774#Ub354/2 bl#Uc5c5#Ub85c#Ub4d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787" y="1220724"/>
            <a:ext cx="3004570" cy="15270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2944368"/>
            <a:ext cx="3355848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1" name="Image 1" descr="/mnt/data/slide_imgs/2#Ubc88#Uc2ac#Ub77c#Uc774#Ub354/2bl#Uc5c5#Ub85c#Ub4d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3787190"/>
            <a:ext cx="3255264" cy="14964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87368" y="2944368"/>
            <a:ext cx="3355848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3" name="Image 2" descr="/mnt/data/slide_imgs/2#Ubc88#Uc2ac#Ub77c#Uc774#Ub354/2bl#Uc5c5#Ub85c#Ub4d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60" y="3589719"/>
            <a:ext cx="3255264" cy="189141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635240" y="1078992"/>
            <a:ext cx="41148" cy="5321808"/>
          </a:xfrm>
          <a:prstGeom prst="rect">
            <a:avLst/>
          </a:prstGeom>
          <a:solidFill>
            <a:srgbClr val="1F73D8"/>
          </a:solidFill>
          <a:ln w="12700">
            <a:solidFill>
              <a:srgbClr val="1F73D8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936992" y="1280160"/>
            <a:ext cx="128016" cy="128016"/>
          </a:xfrm>
          <a:prstGeom prst="ellipse">
            <a:avLst/>
          </a:prstGeom>
          <a:solidFill>
            <a:srgbClr val="1F73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165592" y="12435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 자동 파싱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8165592" y="15819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선하증권(BL) 업로드 시 데이터 자동 바인딩 및 발주 등록</a:t>
            </a:r>
            <a:endParaRPr lang="en-US" sz="1090" dirty="0"/>
          </a:p>
        </p:txBody>
      </p:sp>
      <p:sp>
        <p:nvSpPr>
          <p:cNvPr id="18" name="Shape 13"/>
          <p:cNvSpPr/>
          <p:nvPr/>
        </p:nvSpPr>
        <p:spPr>
          <a:xfrm>
            <a:off x="7936992" y="25420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165592" y="250545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기반 트리거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8165592" y="28437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입고 시점부터 후속 생산 프로세스를 자동 시작</a:t>
            </a:r>
            <a:endParaRPr lang="en-US" sz="1090" dirty="0"/>
          </a:p>
        </p:txBody>
      </p:sp>
      <p:sp>
        <p:nvSpPr>
          <p:cNvPr id="21" name="Shape 16"/>
          <p:cNvSpPr/>
          <p:nvPr/>
        </p:nvSpPr>
        <p:spPr>
          <a:xfrm>
            <a:off x="7936992" y="3803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165592" y="3767328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입력 제거</a:t>
            </a:r>
            <a:endParaRPr lang="en-US" sz="1440" dirty="0"/>
          </a:p>
        </p:txBody>
      </p:sp>
      <p:sp>
        <p:nvSpPr>
          <p:cNvPr id="23" name="Text 18"/>
          <p:cNvSpPr/>
          <p:nvPr/>
        </p:nvSpPr>
        <p:spPr>
          <a:xfrm>
            <a:off x="8165592" y="4105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입력 구간을 제거해 데이터 정합성 오류 가능성을 낮춤</a:t>
            </a:r>
            <a:endParaRPr lang="en-US" sz="1090" dirty="0"/>
          </a:p>
        </p:txBody>
      </p:sp>
      <p:sp>
        <p:nvSpPr>
          <p:cNvPr id="24" name="Text 19"/>
          <p:cNvSpPr/>
          <p:nvPr/>
        </p:nvSpPr>
        <p:spPr>
          <a:xfrm>
            <a:off x="566928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Upload</a:t>
            </a:r>
            <a:endParaRPr lang="en-US" sz="720" dirty="0"/>
          </a:p>
        </p:txBody>
      </p:sp>
      <p:sp>
        <p:nvSpPr>
          <p:cNvPr id="25" name="Text 20"/>
          <p:cNvSpPr/>
          <p:nvPr/>
        </p:nvSpPr>
        <p:spPr>
          <a:xfrm>
            <a:off x="566928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 파일 등록</a:t>
            </a:r>
            <a:endParaRPr lang="en-US" sz="620" dirty="0"/>
          </a:p>
        </p:txBody>
      </p:sp>
      <p:sp>
        <p:nvSpPr>
          <p:cNvPr id="26" name="Text 21"/>
          <p:cNvSpPr/>
          <p:nvPr/>
        </p:nvSpPr>
        <p:spPr>
          <a:xfrm>
            <a:off x="2892552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Parse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2892552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 자동 추출</a:t>
            </a:r>
            <a:endParaRPr lang="en-US" sz="620" dirty="0"/>
          </a:p>
        </p:txBody>
      </p:sp>
      <p:sp>
        <p:nvSpPr>
          <p:cNvPr id="28" name="Text 23"/>
          <p:cNvSpPr/>
          <p:nvPr/>
        </p:nvSpPr>
        <p:spPr>
          <a:xfrm>
            <a:off x="5218176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Bind</a:t>
            </a:r>
            <a:endParaRPr lang="en-US" sz="720" dirty="0"/>
          </a:p>
        </p:txBody>
      </p:sp>
      <p:sp>
        <p:nvSpPr>
          <p:cNvPr id="29" name="Text 24"/>
          <p:cNvSpPr/>
          <p:nvPr/>
        </p:nvSpPr>
        <p:spPr>
          <a:xfrm>
            <a:off x="5218176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발주 데이터 생성</a:t>
            </a:r>
            <a:endParaRPr lang="en-US" sz="6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2940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제조·물류 AI Agent Platform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9582912" y="2377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 Automation Pipeline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9202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입고 즉시 생산 스케줄 연동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66928" y="9144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73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수입 문서 데이터가 생산 계획과 설비 배정까지 끊김 없이 연결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68762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9" name="Image 0" descr="/mnt/data/slide_imgs/2#Ubc88#Uc2ac#Ub77c#Uc774#Ub354/2#Uc0dd#Uc0b0#Ucc3d #Uc5d1#Uc140#Ub85c #Uc5c5#Ub85c#Ub4d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288" y="1220724"/>
            <a:ext cx="3225568" cy="1636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3063240"/>
            <a:ext cx="3355848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1" name="Image 1" descr="/mnt/data/slide_imgs/2#Ubc88#Uc2ac#Ub77c#Uc774#Ub354/2#Uc0dd#Uc0b0#Ucc3d #Uc5d1#Uc140#Ub85c #Uc5c5#Ub85c#Ub4d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3772468"/>
            <a:ext cx="3255264" cy="16447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87368" y="3063240"/>
            <a:ext cx="3355848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3" name="Image 2" descr="/mnt/data/slide_imgs/2#Ubc88#Uc2ac#Ub77c#Uc774#Ub354/2ai #Uc0c1#Ud669 #Uc694#Uc57d 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395" y="3113532"/>
            <a:ext cx="1475794" cy="29626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635240" y="1078992"/>
            <a:ext cx="41148" cy="5321808"/>
          </a:xfrm>
          <a:prstGeom prst="rect">
            <a:avLst/>
          </a:prstGeom>
          <a:solidFill>
            <a:srgbClr val="1F73D8"/>
          </a:solidFill>
          <a:ln w="12700">
            <a:solidFill>
              <a:srgbClr val="1F73D8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936992" y="1280160"/>
            <a:ext cx="128016" cy="128016"/>
          </a:xfrm>
          <a:prstGeom prst="ellipse">
            <a:avLst/>
          </a:prstGeom>
          <a:solidFill>
            <a:srgbClr val="1F73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165592" y="12435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끊김 없는 워크플로우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8165592" y="15819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입고 즉시 생산 스케줄 연동으로 리드타임 단축</a:t>
            </a:r>
            <a:endParaRPr lang="en-US" sz="1090" dirty="0"/>
          </a:p>
        </p:txBody>
      </p:sp>
      <p:sp>
        <p:nvSpPr>
          <p:cNvPr id="18" name="Shape 13"/>
          <p:cNvSpPr/>
          <p:nvPr/>
        </p:nvSpPr>
        <p:spPr>
          <a:xfrm>
            <a:off x="7936992" y="25420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165592" y="250545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휴먼 에러 방지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8165592" y="28437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입력 과정 배제로 데이터 정합성 오차를 구조적으로 차단</a:t>
            </a:r>
            <a:endParaRPr lang="en-US" sz="1090" dirty="0"/>
          </a:p>
        </p:txBody>
      </p:sp>
      <p:sp>
        <p:nvSpPr>
          <p:cNvPr id="21" name="Shape 16"/>
          <p:cNvSpPr/>
          <p:nvPr/>
        </p:nvSpPr>
        <p:spPr>
          <a:xfrm>
            <a:off x="7936992" y="3803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165592" y="3767328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상태 가시화</a:t>
            </a:r>
            <a:endParaRPr lang="en-US" sz="1440" dirty="0"/>
          </a:p>
        </p:txBody>
      </p:sp>
      <p:sp>
        <p:nvSpPr>
          <p:cNvPr id="23" name="Text 18"/>
          <p:cNvSpPr/>
          <p:nvPr/>
        </p:nvSpPr>
        <p:spPr>
          <a:xfrm>
            <a:off x="8165592" y="4105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발주·생산·설비 상태를 한 흐름에서 추적</a:t>
            </a:r>
            <a:endParaRPr lang="en-US" sz="1090" dirty="0"/>
          </a:p>
        </p:txBody>
      </p:sp>
      <p:sp>
        <p:nvSpPr>
          <p:cNvPr id="24" name="Text 19"/>
          <p:cNvSpPr/>
          <p:nvPr/>
        </p:nvSpPr>
        <p:spPr>
          <a:xfrm>
            <a:off x="566928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Lead Time</a:t>
            </a:r>
            <a:endParaRPr lang="en-US" sz="720" dirty="0"/>
          </a:p>
        </p:txBody>
      </p:sp>
      <p:sp>
        <p:nvSpPr>
          <p:cNvPr id="25" name="Text 20"/>
          <p:cNvSpPr/>
          <p:nvPr/>
        </p:nvSpPr>
        <p:spPr>
          <a:xfrm>
            <a:off x="566928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 시간 감소</a:t>
            </a:r>
            <a:endParaRPr lang="en-US" sz="620" dirty="0"/>
          </a:p>
        </p:txBody>
      </p:sp>
      <p:sp>
        <p:nvSpPr>
          <p:cNvPr id="26" name="Text 21"/>
          <p:cNvSpPr/>
          <p:nvPr/>
        </p:nvSpPr>
        <p:spPr>
          <a:xfrm>
            <a:off x="2892552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Traceability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2892552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입고→생산 추적</a:t>
            </a:r>
            <a:endParaRPr lang="en-US" sz="620" dirty="0"/>
          </a:p>
        </p:txBody>
      </p:sp>
      <p:sp>
        <p:nvSpPr>
          <p:cNvPr id="28" name="Text 23"/>
          <p:cNvSpPr/>
          <p:nvPr/>
        </p:nvSpPr>
        <p:spPr>
          <a:xfrm>
            <a:off x="5218176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Consistency</a:t>
            </a:r>
            <a:endParaRPr lang="en-US" sz="720" dirty="0"/>
          </a:p>
        </p:txBody>
      </p:sp>
      <p:sp>
        <p:nvSpPr>
          <p:cNvPr id="29" name="Text 24"/>
          <p:cNvSpPr/>
          <p:nvPr/>
        </p:nvSpPr>
        <p:spPr>
          <a:xfrm>
            <a:off x="5218176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정합성 유지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2940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제조·물류 AI Agent Platform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9582912" y="2377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 Audit Channel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9202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 기반 비즈니스 보고 채널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66928" y="9144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73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채팅이 아니라 입고/완료/배차 중심의 비즈니스 이벤트 로그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687628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9" name="Image 0" descr="/mnt/data/slide_imgs/3#Ubc88#Uc2ac#Ub77c#Uc774#Ub354/3#Ud50c#Ub7ab#Ud3fc #Ubcf4#Uace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019" y="1220724"/>
            <a:ext cx="4062105" cy="22951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3730752"/>
            <a:ext cx="687628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1" name="Image 1" descr="/mnt/data/slide_imgs/3#Ubc88#Uc2ac#Ub77c#Uc774#Ub354/3#Ud50c#Ub7ab#Ud3fc #Ubcf4#Uace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180" y="3781044"/>
            <a:ext cx="4081783" cy="22951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35240" y="1078992"/>
            <a:ext cx="41148" cy="5321808"/>
          </a:xfrm>
          <a:prstGeom prst="rect">
            <a:avLst/>
          </a:prstGeom>
          <a:solidFill>
            <a:srgbClr val="1F73D8"/>
          </a:solidFill>
          <a:ln w="12700">
            <a:solidFill>
              <a:srgbClr val="1F73D8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36992" y="1280160"/>
            <a:ext cx="128016" cy="128016"/>
          </a:xfrm>
          <a:prstGeom prst="ellipse">
            <a:avLst/>
          </a:prstGeom>
          <a:solidFill>
            <a:srgbClr val="1F73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65592" y="12435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 타임라인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8165592" y="15819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채팅을 넘어선 '입고/완료/배차' 중심의 비즈니스 로직 기록</a:t>
            </a:r>
            <a:endParaRPr lang="en-US" sz="1090" dirty="0"/>
          </a:p>
        </p:txBody>
      </p:sp>
      <p:sp>
        <p:nvSpPr>
          <p:cNvPr id="16" name="Shape 12"/>
          <p:cNvSpPr/>
          <p:nvPr/>
        </p:nvSpPr>
        <p:spPr>
          <a:xfrm>
            <a:off x="7936992" y="25420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250545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정합성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8165592" y="28437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 시점 기반 데이터 역추적(Tracing) 및 감사(Audit) 환경 구축</a:t>
            </a:r>
            <a:endParaRPr lang="en-US" sz="1090" dirty="0"/>
          </a:p>
        </p:txBody>
      </p:sp>
      <p:sp>
        <p:nvSpPr>
          <p:cNvPr id="19" name="Shape 15"/>
          <p:cNvSpPr/>
          <p:nvPr/>
        </p:nvSpPr>
        <p:spPr>
          <a:xfrm>
            <a:off x="7936992" y="3803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65592" y="3767328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소통 투명성</a:t>
            </a:r>
            <a:endParaRPr lang="en-US" sz="1440" dirty="0"/>
          </a:p>
        </p:txBody>
      </p:sp>
      <p:sp>
        <p:nvSpPr>
          <p:cNvPr id="21" name="Text 17"/>
          <p:cNvSpPr/>
          <p:nvPr/>
        </p:nvSpPr>
        <p:spPr>
          <a:xfrm>
            <a:off x="8165592" y="4105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 통합으로 실무자 간 책임 소재와 프로세스를 명확화</a:t>
            </a:r>
            <a:endParaRPr lang="en-US" sz="1090" dirty="0"/>
          </a:p>
        </p:txBody>
      </p:sp>
      <p:sp>
        <p:nvSpPr>
          <p:cNvPr id="22" name="Text 18"/>
          <p:cNvSpPr/>
          <p:nvPr/>
        </p:nvSpPr>
        <p:spPr>
          <a:xfrm>
            <a:off x="566928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Events</a:t>
            </a:r>
            <a:endParaRPr lang="en-US" sz="720" dirty="0"/>
          </a:p>
        </p:txBody>
      </p:sp>
      <p:sp>
        <p:nvSpPr>
          <p:cNvPr id="23" name="Text 19"/>
          <p:cNvSpPr/>
          <p:nvPr/>
        </p:nvSpPr>
        <p:spPr>
          <a:xfrm>
            <a:off x="566928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행위 기준 기록</a:t>
            </a:r>
            <a:endParaRPr lang="en-US" sz="620" dirty="0"/>
          </a:p>
        </p:txBody>
      </p:sp>
      <p:sp>
        <p:nvSpPr>
          <p:cNvPr id="24" name="Text 20"/>
          <p:cNvSpPr/>
          <p:nvPr/>
        </p:nvSpPr>
        <p:spPr>
          <a:xfrm>
            <a:off x="2892552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Tracing</a:t>
            </a:r>
            <a:endParaRPr lang="en-US" sz="720" dirty="0"/>
          </a:p>
        </p:txBody>
      </p:sp>
      <p:sp>
        <p:nvSpPr>
          <p:cNvPr id="25" name="Text 21"/>
          <p:cNvSpPr/>
          <p:nvPr/>
        </p:nvSpPr>
        <p:spPr>
          <a:xfrm>
            <a:off x="2892552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시점 기반 역추적</a:t>
            </a:r>
            <a:endParaRPr lang="en-US" sz="620" dirty="0"/>
          </a:p>
        </p:txBody>
      </p:sp>
      <p:sp>
        <p:nvSpPr>
          <p:cNvPr id="26" name="Text 22"/>
          <p:cNvSpPr/>
          <p:nvPr/>
        </p:nvSpPr>
        <p:spPr>
          <a:xfrm>
            <a:off x="5218176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</a:t>
            </a:r>
            <a:endParaRPr lang="en-US" sz="720" dirty="0"/>
          </a:p>
        </p:txBody>
      </p:sp>
      <p:sp>
        <p:nvSpPr>
          <p:cNvPr id="27" name="Text 23"/>
          <p:cNvSpPr/>
          <p:nvPr/>
        </p:nvSpPr>
        <p:spPr>
          <a:xfrm>
            <a:off x="5218176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 소재 명확화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2940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제조·물류 AI Agent Platform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9582912" y="2377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 AI Insight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9202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기반 비즈니스 인사이트 및 전략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66928" y="9144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73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통계 기반 질의로 LLM 환각을 통제하고 근거를 명시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331012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9" name="Image 0" descr="/mnt/data/slide_imgs/4#Ubc88#Uc2ac#Ub77c#Uc774#Ub354/4#Uc778#Uc0ac#Uc774#Ud2b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236509"/>
            <a:ext cx="3209544" cy="226357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041648" y="1170432"/>
            <a:ext cx="340156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1" name="Image 1" descr="/mnt/data/slide_imgs/4#Ubc88#Uc2ac#Ub77c#Uc774#Ub354/4#Uc778#Uc0ac#Uc774#Ud2b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940" y="1359532"/>
            <a:ext cx="3300984" cy="20175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6928" y="3730752"/>
            <a:ext cx="331012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3" name="Image 2" descr="/mnt/data/slide_imgs/4#Ubc88#Uc2ac#Ub77c#Uc774#Ub354/4#Ucc57#Ubd0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062" y="3781044"/>
            <a:ext cx="1457860" cy="2295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041648" y="3730752"/>
            <a:ext cx="340156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5" name="Image 3" descr="/mnt/data/slide_imgs/4#Ubc88#Uc2ac#Ub77c#Uc774#Ub354/4#Ucc57#Ubd0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5048" y="3781044"/>
            <a:ext cx="1434768" cy="22951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635240" y="1078992"/>
            <a:ext cx="41148" cy="5321808"/>
          </a:xfrm>
          <a:prstGeom prst="rect">
            <a:avLst/>
          </a:prstGeom>
          <a:solidFill>
            <a:srgbClr val="1F73D8"/>
          </a:solidFill>
          <a:ln w="12700">
            <a:solidFill>
              <a:srgbClr val="1F73D8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936992" y="1280160"/>
            <a:ext cx="128016" cy="128016"/>
          </a:xfrm>
          <a:prstGeom prst="ellipse">
            <a:avLst/>
          </a:prstGeom>
          <a:solidFill>
            <a:srgbClr val="1F73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165592" y="12435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Structured RAG 설계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8165592" y="15819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통계 기반 LLM 연동으로 환각 현상(Hallucination) 통제</a:t>
            </a:r>
            <a:endParaRPr lang="en-US" sz="1090" dirty="0"/>
          </a:p>
        </p:txBody>
      </p:sp>
      <p:sp>
        <p:nvSpPr>
          <p:cNvPr id="20" name="Shape 14"/>
          <p:cNvSpPr/>
          <p:nvPr/>
        </p:nvSpPr>
        <p:spPr>
          <a:xfrm>
            <a:off x="7936992" y="25420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165592" y="250545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중심 제언</a:t>
            </a:r>
            <a:endParaRPr lang="en-US" sz="1440" dirty="0"/>
          </a:p>
        </p:txBody>
      </p:sp>
      <p:sp>
        <p:nvSpPr>
          <p:cNvPr id="22" name="Text 16"/>
          <p:cNvSpPr/>
          <p:nvPr/>
        </p:nvSpPr>
        <p:spPr>
          <a:xfrm>
            <a:off x="8165592" y="28437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 근거(분석 기간, 비교 지표 등) 명시로 분석 신뢰도 확보</a:t>
            </a:r>
            <a:endParaRPr lang="en-US" sz="1090" dirty="0"/>
          </a:p>
        </p:txBody>
      </p:sp>
      <p:sp>
        <p:nvSpPr>
          <p:cNvPr id="23" name="Shape 17"/>
          <p:cNvSpPr/>
          <p:nvPr/>
        </p:nvSpPr>
        <p:spPr>
          <a:xfrm>
            <a:off x="7936992" y="3803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165592" y="3767328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대화형 분석</a:t>
            </a:r>
            <a:endParaRPr lang="en-US" sz="1440" dirty="0"/>
          </a:p>
        </p:txBody>
      </p:sp>
      <p:sp>
        <p:nvSpPr>
          <p:cNvPr id="25" name="Text 19"/>
          <p:cNvSpPr/>
          <p:nvPr/>
        </p:nvSpPr>
        <p:spPr>
          <a:xfrm>
            <a:off x="8165592" y="4105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자연어 질문으로 공급망 리스크와 생산 효율을 즉시 분석</a:t>
            </a:r>
            <a:endParaRPr lang="en-US" sz="1090" dirty="0"/>
          </a:p>
        </p:txBody>
      </p:sp>
      <p:sp>
        <p:nvSpPr>
          <p:cNvPr id="26" name="Text 20"/>
          <p:cNvSpPr/>
          <p:nvPr/>
        </p:nvSpPr>
        <p:spPr>
          <a:xfrm>
            <a:off x="566928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Grounding</a:t>
            </a:r>
            <a:endParaRPr lang="en-US" sz="720" dirty="0"/>
          </a:p>
        </p:txBody>
      </p:sp>
      <p:sp>
        <p:nvSpPr>
          <p:cNvPr id="27" name="Text 21"/>
          <p:cNvSpPr/>
          <p:nvPr/>
        </p:nvSpPr>
        <p:spPr>
          <a:xfrm>
            <a:off x="566928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통계 기반 응답</a:t>
            </a:r>
            <a:endParaRPr lang="en-US" sz="620" dirty="0"/>
          </a:p>
        </p:txBody>
      </p:sp>
      <p:sp>
        <p:nvSpPr>
          <p:cNvPr id="28" name="Text 22"/>
          <p:cNvSpPr/>
          <p:nvPr/>
        </p:nvSpPr>
        <p:spPr>
          <a:xfrm>
            <a:off x="2892552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</a:t>
            </a:r>
            <a:endParaRPr lang="en-US" sz="720" dirty="0"/>
          </a:p>
        </p:txBody>
      </p:sp>
      <p:sp>
        <p:nvSpPr>
          <p:cNvPr id="29" name="Text 23"/>
          <p:cNvSpPr/>
          <p:nvPr/>
        </p:nvSpPr>
        <p:spPr>
          <a:xfrm>
            <a:off x="2892552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기간·지표 제시</a:t>
            </a:r>
            <a:endParaRPr lang="en-US" sz="620" dirty="0"/>
          </a:p>
        </p:txBody>
      </p:sp>
      <p:sp>
        <p:nvSpPr>
          <p:cNvPr id="30" name="Text 24"/>
          <p:cNvSpPr/>
          <p:nvPr/>
        </p:nvSpPr>
        <p:spPr>
          <a:xfrm>
            <a:off x="5218176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Q&amp;A</a:t>
            </a:r>
            <a:endParaRPr lang="en-US" sz="720" dirty="0"/>
          </a:p>
        </p:txBody>
      </p:sp>
      <p:sp>
        <p:nvSpPr>
          <p:cNvPr id="31" name="Text 25"/>
          <p:cNvSpPr/>
          <p:nvPr/>
        </p:nvSpPr>
        <p:spPr>
          <a:xfrm>
            <a:off x="5218176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자연어 분석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2940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제조·물류 AI Agent Platform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9582912" y="2377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 Logistics Optimization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9202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물류 최적화 및 운영 대시보드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66928" y="9144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73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 완료와 물류 기사 스냅샷을 교차 검증해 예외를 감지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6876288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9" name="Image 0" descr="/mnt/data/slide_imgs/5#Ubc88 #Uc2ac#Ub77c#Uc774#Ub354/6 #Uadc0#Ub85c#Ubc30#Ucc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847" y="1220724"/>
            <a:ext cx="3704451" cy="23134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3749040"/>
            <a:ext cx="68762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</p:sp>
      <p:pic>
        <p:nvPicPr>
          <p:cNvPr id="11" name="Image 1" descr="/mnt/data/slide_imgs/5#Ubc88 #Uc2ac#Ub77c#Uc774#Ub354/6 #Uadc0#Ub85c #Ub300#Uc2dc#Ubcf4#Ub4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980" y="3799332"/>
            <a:ext cx="4168183" cy="22768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35240" y="1078992"/>
            <a:ext cx="41148" cy="5321808"/>
          </a:xfrm>
          <a:prstGeom prst="rect">
            <a:avLst/>
          </a:prstGeom>
          <a:solidFill>
            <a:srgbClr val="1F73D8"/>
          </a:solidFill>
          <a:ln w="12700">
            <a:solidFill>
              <a:srgbClr val="1F73D8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36992" y="1280160"/>
            <a:ext cx="128016" cy="128016"/>
          </a:xfrm>
          <a:prstGeom prst="ellipse">
            <a:avLst/>
          </a:prstGeom>
          <a:solidFill>
            <a:srgbClr val="1F73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65592" y="12435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교차 검증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8165592" y="15819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 완료 보고와 물류 기사 스냅샷의 데이터 정합성 확인</a:t>
            </a:r>
            <a:endParaRPr lang="en-US" sz="1090" dirty="0"/>
          </a:p>
        </p:txBody>
      </p:sp>
      <p:sp>
        <p:nvSpPr>
          <p:cNvPr id="16" name="Shape 12"/>
          <p:cNvSpPr/>
          <p:nvPr/>
        </p:nvSpPr>
        <p:spPr>
          <a:xfrm>
            <a:off x="7936992" y="25420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250545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귀로 매칭(Back-haul)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8165592" y="28437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입고/수출 물량 최적 연결을 통한 빈 차 운행 감소 및 물류비 절감</a:t>
            </a:r>
            <a:endParaRPr lang="en-US" sz="1090" dirty="0"/>
          </a:p>
        </p:txBody>
      </p:sp>
      <p:sp>
        <p:nvSpPr>
          <p:cNvPr id="19" name="Shape 15"/>
          <p:cNvSpPr/>
          <p:nvPr/>
        </p:nvSpPr>
        <p:spPr>
          <a:xfrm>
            <a:off x="7936992" y="3803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65592" y="3767328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관제</a:t>
            </a:r>
            <a:endParaRPr lang="en-US" sz="1440" dirty="0"/>
          </a:p>
        </p:txBody>
      </p:sp>
      <p:sp>
        <p:nvSpPr>
          <p:cNvPr id="21" name="Text 17"/>
          <p:cNvSpPr/>
          <p:nvPr/>
        </p:nvSpPr>
        <p:spPr>
          <a:xfrm>
            <a:off x="8165592" y="4105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예외 상황 자동 감지와 실시간 대응을 위한 KPI 대시보드 시각화</a:t>
            </a:r>
            <a:endParaRPr lang="en-US" sz="1090" dirty="0"/>
          </a:p>
        </p:txBody>
      </p:sp>
      <p:sp>
        <p:nvSpPr>
          <p:cNvPr id="22" name="Text 18"/>
          <p:cNvSpPr/>
          <p:nvPr/>
        </p:nvSpPr>
        <p:spPr>
          <a:xfrm>
            <a:off x="566928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Cross Check</a:t>
            </a:r>
            <a:endParaRPr lang="en-US" sz="720" dirty="0"/>
          </a:p>
        </p:txBody>
      </p:sp>
      <p:sp>
        <p:nvSpPr>
          <p:cNvPr id="23" name="Text 19"/>
          <p:cNvSpPr/>
          <p:nvPr/>
        </p:nvSpPr>
        <p:spPr>
          <a:xfrm>
            <a:off x="566928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생산·물류 검증</a:t>
            </a:r>
            <a:endParaRPr lang="en-US" sz="620" dirty="0"/>
          </a:p>
        </p:txBody>
      </p:sp>
      <p:sp>
        <p:nvSpPr>
          <p:cNvPr id="24" name="Text 20"/>
          <p:cNvSpPr/>
          <p:nvPr/>
        </p:nvSpPr>
        <p:spPr>
          <a:xfrm>
            <a:off x="2892552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Back-haul</a:t>
            </a:r>
            <a:endParaRPr lang="en-US" sz="720" dirty="0"/>
          </a:p>
        </p:txBody>
      </p:sp>
      <p:sp>
        <p:nvSpPr>
          <p:cNvPr id="25" name="Text 21"/>
          <p:cNvSpPr/>
          <p:nvPr/>
        </p:nvSpPr>
        <p:spPr>
          <a:xfrm>
            <a:off x="2892552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 차 운행 감소</a:t>
            </a:r>
            <a:endParaRPr lang="en-US" sz="620" dirty="0"/>
          </a:p>
        </p:txBody>
      </p:sp>
      <p:sp>
        <p:nvSpPr>
          <p:cNvPr id="26" name="Text 22"/>
          <p:cNvSpPr/>
          <p:nvPr/>
        </p:nvSpPr>
        <p:spPr>
          <a:xfrm>
            <a:off x="5218176" y="6236208"/>
            <a:ext cx="2252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714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Dashboard</a:t>
            </a:r>
            <a:endParaRPr lang="en-US" sz="720" dirty="0"/>
          </a:p>
        </p:txBody>
      </p:sp>
      <p:sp>
        <p:nvSpPr>
          <p:cNvPr id="27" name="Text 23"/>
          <p:cNvSpPr/>
          <p:nvPr/>
        </p:nvSpPr>
        <p:spPr>
          <a:xfrm>
            <a:off x="5218176" y="6382512"/>
            <a:ext cx="2252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예외 상황 관제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580</Words>
  <Application>Microsoft Office PowerPoint</Application>
  <PresentationFormat>와이드스크린</PresentationFormat>
  <Paragraphs>125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Noto Sans CJK KR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제조·물류 AI Agent Platform</dc:title>
  <dc:subject>AI Agent Platform Presentation</dc:subject>
  <dc:creator>OpenAI</dc:creator>
  <cp:lastModifiedBy>송윤태</cp:lastModifiedBy>
  <cp:revision>2</cp:revision>
  <dcterms:created xsi:type="dcterms:W3CDTF">2026-06-18T06:42:50Z</dcterms:created>
  <dcterms:modified xsi:type="dcterms:W3CDTF">2026-06-18T06:51:02Z</dcterms:modified>
</cp:coreProperties>
</file>